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0bba4cd4394c6d" /><Relationship Type="http://schemas.openxmlformats.org/officeDocument/2006/relationships/extended-properties" Target="/docProps/app.xml" Id="R8730e2a8fcb54afa" /><Relationship Type="http://schemas.openxmlformats.org/officeDocument/2006/relationships/officeDocument" Target="/ppt/presentation.xml" Id="Rdc514c47890c4e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b744641a1845b8"/>
  </p:sldMasterIdLst>
  <p:notesMasterIdLst>
    <p:notesMasterId xmlns:r="http://schemas.openxmlformats.org/officeDocument/2006/relationships" r:id="R54daa50584c54c47"/>
  </p:notesMasterIdLst>
  <p:sldIdLst>
    <p:sldId xmlns:r="http://schemas.openxmlformats.org/officeDocument/2006/relationships" id="256" r:id="Rdf8b4cac97994217"/>
    <p:sldId xmlns:r="http://schemas.openxmlformats.org/officeDocument/2006/relationships" id="257" r:id="Rb10511aa25984c58"/>
    <p:sldId xmlns:r="http://schemas.openxmlformats.org/officeDocument/2006/relationships" id="258" r:id="R8286d68c7a194881"/>
    <p:sldId xmlns:r="http://schemas.openxmlformats.org/officeDocument/2006/relationships" id="259" r:id="Ra44cb6af93ba4021"/>
    <p:sldId xmlns:r="http://schemas.openxmlformats.org/officeDocument/2006/relationships" id="260" r:id="R69918f8321b74adf"/>
    <p:sldId xmlns:r="http://schemas.openxmlformats.org/officeDocument/2006/relationships" id="261" r:id="Re1fad0878a4d441c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592fbd0aca4cf6" /><Relationship Type="http://schemas.openxmlformats.org/officeDocument/2006/relationships/slideMaster" Target="/ppt/slideMasters/slideMaster1.xml" Id="Rfeb744641a1845b8" /><Relationship Type="http://schemas.openxmlformats.org/officeDocument/2006/relationships/notesMaster" Target="/ppt/notesMasters/notesMaster1.xml" Id="R54daa50584c54c47" /><Relationship Type="http://schemas.openxmlformats.org/officeDocument/2006/relationships/presProps" Target="/ppt/presProps.xml" Id="R187010e7299e46fe" /><Relationship Type="http://schemas.openxmlformats.org/officeDocument/2006/relationships/viewProps" Target="/ppt/viewProps.xml" Id="Rc11bfd2dd5504e40" /><Relationship Type="http://schemas.openxmlformats.org/officeDocument/2006/relationships/tableStyles" Target="/ppt/tableStyles.xml" Id="R533d6d9d97e54d28" /><Relationship Type="http://schemas.openxmlformats.org/officeDocument/2006/relationships/slide" Target="/ppt/slides/slide1.xml" Id="Rdf8b4cac97994217" /><Relationship Type="http://schemas.openxmlformats.org/officeDocument/2006/relationships/slide" Target="/ppt/slides/slide2.xml" Id="Rb10511aa25984c58" /><Relationship Type="http://schemas.openxmlformats.org/officeDocument/2006/relationships/slide" Target="/ppt/slides/slide3.xml" Id="R8286d68c7a194881" /><Relationship Type="http://schemas.openxmlformats.org/officeDocument/2006/relationships/slide" Target="/ppt/slides/slide4.xml" Id="Ra44cb6af93ba4021" /><Relationship Type="http://schemas.openxmlformats.org/officeDocument/2006/relationships/slide" Target="/ppt/slides/slide5.xml" Id="R69918f8321b74adf" /><Relationship Type="http://schemas.openxmlformats.org/officeDocument/2006/relationships/slide" Target="/ppt/slides/slide6.xml" Id="Re1fad0878a4d44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2275d9d2c347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2cc75deacc41ce" /><Relationship Type="http://schemas.openxmlformats.org/officeDocument/2006/relationships/notesMaster" Target="/ppt/notesMasters/notesMaster1.xml" Id="Rff845f98a40e4d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73ff1a76254749" /><Relationship Type="http://schemas.openxmlformats.org/officeDocument/2006/relationships/notesMaster" Target="/ppt/notesMasters/notesMaster1.xml" Id="R8a2de8b66b4f4e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4e32157add4766" /><Relationship Type="http://schemas.openxmlformats.org/officeDocument/2006/relationships/notesMaster" Target="/ppt/notesMasters/notesMaster1.xml" Id="R971d8c0d0e1a45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3345bd161e4cfe" /><Relationship Type="http://schemas.openxmlformats.org/officeDocument/2006/relationships/notesMaster" Target="/ppt/notesMasters/notesMaster1.xml" Id="Rcbe298a6b16d4f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fb361a09164e2c" /><Relationship Type="http://schemas.openxmlformats.org/officeDocument/2006/relationships/notesMaster" Target="/ppt/notesMasters/notesMaster1.xml" Id="Rcf4871ddb6b642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a8478bbbdf4bb9" /><Relationship Type="http://schemas.openxmlformats.org/officeDocument/2006/relationships/notesMaster" Target="/ppt/notesMasters/notesMaster1.xml" Id="Rc69da729203741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 początku krótko: naszym problemem jest niewygodny dostęp do wody podczas długiego dnia na wydziale. Chcemy pokazać, dla kogo projektujemy, i zaprezentować moduł nalewania. Docelowo przekształcimy go w robota, który sam dostarcza wodę.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 Waszych materiałach widać trzy powtarzające się trudności: brak wygodnego uzupełnienia wody, koszty kupowania butelkowanej oraz niepewność dotycząca kranówki. To problemy postrzegane przez studentów, a nie dowód złej jakości wody.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Jakub jest personą modelową. Nie jest konkretną badaną osobą. Chcemy rozwiązać codzienny problem użytkownika, który przebywa długo na uczelni i nie chce tracić czasu ani pieniędzy na wodę.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Persona jest głównym, bezpośrednim interesariuszem: będzie używać produktu i odczuwać jego skutki. Student ma największe znaczenie przy definiowaniu potrzeb. Za zgodę i finansowanie odpowiadają jednak inne podmioty, m.in. administracja wydziału.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 tym slajdzie pokazujemy układ pierwszego demonstratora: zbiornik, pompkę, element sterujący, wężyk i butelkę. Działanie najlepiej pokazać na żywo: wybór porcji, przytrzymanie lub naciśnięcie start i nalanie. Dozowanie w aktualnym prostym układzie może być kalibrowane czasem pracy pompki; precyzyjną wagę i moduł Wi-Fi traktujemy jako rozbudowę. Schemat jest poglądowy, a funkcje należy dostosować do rzeczywiście zmontowanego urządzenia.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 koniec pokazujemy kierunek rozwoju: robot na elektrycznej platformie, który sam przejedzie w bezpieczne miejsce i zaoferuje wodę zainteresowanym studentom. Autonomiczna jazda, AI i rozbudowana telemetria są przyszłą wersją, a nie elementami obecnego prototypu.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f5736c5874ec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dd9585a12f49b8" /><Relationship Type="http://schemas.openxmlformats.org/officeDocument/2006/relationships/slideLayout" Target="/ppt/slideLayouts/slideLayout1.xml" Id="R11d36d705f09472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d36d705f09472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33152b1744540" /><Relationship Type="http://schemas.openxmlformats.org/officeDocument/2006/relationships/notesSlide" Target="/ppt/notesSlides/notesSlide1.xml" Id="R11c56363f0b844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ab03091b1475f" /><Relationship Type="http://schemas.openxmlformats.org/officeDocument/2006/relationships/notesSlide" Target="/ppt/notesSlides/notesSlide2.xml" Id="Rb028ea2ee6954b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bd4c4b5a84887" /><Relationship Type="http://schemas.openxmlformats.org/officeDocument/2006/relationships/notesSlide" Target="/ppt/notesSlides/notesSlide3.xml" Id="Ra690e980871b4c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c9cf9859a48b0" /><Relationship Type="http://schemas.openxmlformats.org/officeDocument/2006/relationships/notesSlide" Target="/ppt/notesSlides/notesSlide4.xml" Id="Raea88b4fb59043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6a0f0a94d4757" /><Relationship Type="http://schemas.openxmlformats.org/officeDocument/2006/relationships/notesSlide" Target="/ppt/notesSlides/notesSlide5.xml" Id="R75f349638ddc45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239d9a84c4255" /><Relationship Type="http://schemas.openxmlformats.org/officeDocument/2006/relationships/notesSlide" Target="/ppt/notesSlides/notesSlide6.xml" Id="R64c8a784074648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0AC8F76-FBFD-430D-94C1-8A77FA89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54864"/>
            <a:ext cx="3749040" cy="3749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74A"/>
          </a:solidFill>
          <a:ln xmlns:a="http://schemas.openxmlformats.org/drawingml/2006/main" w="12700">
            <a:solidFill>
              <a:srgbClr val="11374A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2E58D08-A8B2-4594-9493-907B83CF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688" y="4773168"/>
            <a:ext cx="1901952" cy="19019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350"/>
          </a:solidFill>
          <a:ln xmlns:a="http://schemas.openxmlformats.org/drawingml/2006/main" w="12700">
            <a:solidFill>
              <a:srgbClr val="0D4350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B250BA8-B762-468D-A617-EEC30C16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97280"/>
            <a:ext cx="12070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0FB69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7E497D2-1839-4255-B2DF-276DDBF0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557784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6BD9EB"/>
                </a:solidFill>
                <a:latin typeface="Inter"/>
                <a:ea typeface="Inter"/>
                <a:cs typeface="Inter"/>
              </a:rPr>
              <a:t>PROJEKT IoT  /  EiTI PW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FD32D1A-1CF0-4C35-A36B-D22CB0B3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53312"/>
            <a:ext cx="7315200" cy="2907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5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Woda, która</a:t>
            </a:r>
            <a:endParaRPr sz="4550"/>
          </a:p>
          <a:p xmlns:a="http://schemas.openxmlformats.org/drawingml/2006/main">
            <a:pPr marL="0" indent="0" algn="l">
              <a:buNone/>
            </a:pPr>
            <a:r>
              <a:rPr sz="45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przyjeżdża</a:t>
            </a:r>
            <a:endParaRPr sz="4550"/>
          </a:p>
          <a:p xmlns:a="http://schemas.openxmlformats.org/drawingml/2006/main">
            <a:pPr marL="0" indent="0" algn="l">
              <a:buNone/>
            </a:pPr>
            <a:r>
              <a:rPr sz="45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do Ciebie.</a:t>
            </a:r>
            <a:endParaRPr sz="4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D28B22A-3F7B-4D93-8100-FEC3FDF2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718304"/>
            <a:ext cx="66751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C2DDE4"/>
                </a:solidFill>
                <a:latin typeface="Inter"/>
                <a:ea typeface="Inter"/>
                <a:cs typeface="Inter"/>
              </a:rPr>
              <a:t>HydroBot — od potrzeb studenta do mobilnego dystrybutora wody</a:t>
            </a:r>
            <a:endParaRPr sz="1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2C05BA0-5045-4237-95BF-229B48B9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3016"/>
            <a:ext cx="1188720" cy="283464"/>
          </a:xfrm>
          <a:prstGeom xmlns:a="http://schemas.openxmlformats.org/drawingml/2006/main" prst="roundRect">
            <a:avLst>
              <a:gd name="adj" fmla="val 48387"/>
            </a:avLst>
          </a:prstGeom>
          <a:solidFill xmlns:a="http://schemas.openxmlformats.org/drawingml/2006/main">
            <a:srgbClr val="143B4C"/>
          </a:solidFill>
          <a:ln xmlns:a="http://schemas.openxmlformats.org/drawingml/2006/main" w="11430">
            <a:solidFill>
              <a:srgbClr val="143B4C">
                <a:alpha val="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5A41C44-7D7F-4638-887D-833D3609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65876"/>
            <a:ext cx="1005840" cy="2240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C7E8EA"/>
                </a:solidFill>
                <a:latin typeface="Inter"/>
                <a:ea typeface="Inter"/>
                <a:cs typeface="Inter"/>
              </a:rPr>
              <a:t>PROBLEM</a:t>
            </a:r>
            <a:endParaRPr sz="10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C3ADB98-D439-4F56-8726-67E03392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104" y="5843016"/>
            <a:ext cx="1133856" cy="283464"/>
          </a:xfrm>
          <a:prstGeom xmlns:a="http://schemas.openxmlformats.org/drawingml/2006/main" prst="roundRect">
            <a:avLst>
              <a:gd name="adj" fmla="val 48387"/>
            </a:avLst>
          </a:prstGeom>
          <a:solidFill xmlns:a="http://schemas.openxmlformats.org/drawingml/2006/main">
            <a:srgbClr val="143B4C"/>
          </a:solidFill>
          <a:ln xmlns:a="http://schemas.openxmlformats.org/drawingml/2006/main" w="11430">
            <a:solidFill>
              <a:srgbClr val="143B4C">
                <a:alpha val="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1399812-D6BD-48FA-99DD-55D59475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44" y="5865876"/>
            <a:ext cx="950976" cy="2240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C7E8EA"/>
                </a:solidFill>
                <a:latin typeface="Inter"/>
                <a:ea typeface="Inter"/>
                <a:cs typeface="Inter"/>
              </a:rPr>
              <a:t>PERSONA</a:t>
            </a:r>
            <a:endParaRPr sz="10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251451F-CD02-4AC7-ABBB-F87F63B1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5843016"/>
            <a:ext cx="1664208" cy="283464"/>
          </a:xfrm>
          <a:prstGeom xmlns:a="http://schemas.openxmlformats.org/drawingml/2006/main" prst="roundRect">
            <a:avLst>
              <a:gd name="adj" fmla="val 48387"/>
            </a:avLst>
          </a:prstGeom>
          <a:solidFill xmlns:a="http://schemas.openxmlformats.org/drawingml/2006/main">
            <a:srgbClr val="143B4C"/>
          </a:solidFill>
          <a:ln xmlns:a="http://schemas.openxmlformats.org/drawingml/2006/main" w="11430">
            <a:solidFill>
              <a:srgbClr val="143B4C">
                <a:alpha val="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CE04F9F-6CAB-4D2E-A54E-6CF255BE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5865876"/>
            <a:ext cx="1481328" cy="2240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C7E8EA"/>
                </a:solidFill>
                <a:latin typeface="Inter"/>
                <a:ea typeface="Inter"/>
                <a:cs typeface="Inter"/>
              </a:rPr>
              <a:t>INTERESARIUSZ</a:t>
            </a:r>
            <a:endParaRPr sz="1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1DD090B-9D68-49B4-9371-A554F227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192" y="5843016"/>
            <a:ext cx="1261872" cy="283464"/>
          </a:xfrm>
          <a:prstGeom xmlns:a="http://schemas.openxmlformats.org/drawingml/2006/main" prst="roundRect">
            <a:avLst>
              <a:gd name="adj" fmla="val 48387"/>
            </a:avLst>
          </a:prstGeom>
          <a:solidFill xmlns:a="http://schemas.openxmlformats.org/drawingml/2006/main">
            <a:srgbClr val="143B4C"/>
          </a:solidFill>
          <a:ln xmlns:a="http://schemas.openxmlformats.org/drawingml/2006/main" w="11430">
            <a:solidFill>
              <a:srgbClr val="143B4C">
                <a:alpha val="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1B11C65-CBFD-4FB1-838B-DFE2C922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5865876"/>
            <a:ext cx="1078992" cy="2240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C7E8EA"/>
                </a:solidFill>
                <a:latin typeface="Inter"/>
                <a:ea typeface="Inter"/>
                <a:cs typeface="Inter"/>
              </a:rPr>
              <a:t>PROTOTYP</a:t>
            </a:r>
            <a:endParaRPr sz="10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41B7189-1103-470D-A87F-32983300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828" y="4703674"/>
            <a:ext cx="3822192" cy="3520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0C16">
              <a:alpha val="65000"/>
            </a:srgbClr>
          </a:solidFill>
          <a:ln xmlns:a="http://schemas.openxmlformats.org/drawingml/2006/main" w="12700">
            <a:solidFill>
              <a:srgbClr val="030C16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80DD082-3F3D-4819-9F49-E17DB04A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8470" y="3818534"/>
            <a:ext cx="3671316" cy="694030"/>
          </a:xfrm>
          <a:prstGeom xmlns:a="http://schemas.openxmlformats.org/drawingml/2006/main" prst="roundRect">
            <a:avLst>
              <a:gd name="adj" fmla="val 17128"/>
            </a:avLst>
          </a:prstGeom>
          <a:solidFill xmlns:a="http://schemas.openxmlformats.org/drawingml/2006/main">
            <a:srgbClr val="1D4D63"/>
          </a:solidFill>
          <a:ln xmlns:a="http://schemas.openxmlformats.org/drawingml/2006/main" w="11430">
            <a:solidFill>
              <a:srgbClr val="26758C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34BB9A3-AAD5-40D7-A1BC-243B1931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9989" y="4442155"/>
            <a:ext cx="905256" cy="261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02E"/>
          </a:solidFill>
          <a:ln xmlns:a="http://schemas.openxmlformats.org/drawingml/2006/main" w="11430">
            <a:solidFill>
              <a:srgbClr val="09202E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F2C89F0-E49E-4322-AD6D-92769A21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2837" y="4442155"/>
            <a:ext cx="905256" cy="261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02E"/>
          </a:solidFill>
          <a:ln xmlns:a="http://schemas.openxmlformats.org/drawingml/2006/main" w="11430">
            <a:solidFill>
              <a:srgbClr val="09202E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1B5CC6D-7DA4-4EB4-9ED3-96DFEF94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697" y="4100170"/>
            <a:ext cx="804672" cy="8046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735"/>
          </a:solidFill>
          <a:ln xmlns:a="http://schemas.openxmlformats.org/drawingml/2006/main" w="12700">
            <a:solidFill>
              <a:srgbClr val="56AFC0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5E1264C-C2F7-4196-8795-10A44784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157" y="4351630"/>
            <a:ext cx="301752" cy="3017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C9D1"/>
          </a:solidFill>
          <a:ln xmlns:a="http://schemas.openxmlformats.org/drawingml/2006/main" w="12700">
            <a:solidFill>
              <a:srgbClr val="59C9D1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1FFDFEF-ACEF-4EDD-8BFA-378D8D22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3538" y="4100170"/>
            <a:ext cx="804672" cy="8046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735"/>
          </a:solidFill>
          <a:ln xmlns:a="http://schemas.openxmlformats.org/drawingml/2006/main" w="12700">
            <a:solidFill>
              <a:srgbClr val="56AFC0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CF70CBB-F2F8-411D-BD77-E81219B0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4998" y="4351630"/>
            <a:ext cx="301752" cy="3017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C9D1"/>
          </a:solidFill>
          <a:ln xmlns:a="http://schemas.openxmlformats.org/drawingml/2006/main" w="12700">
            <a:solidFill>
              <a:srgbClr val="59C9D1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D39DF6E-1F43-41F8-8549-FC558F7C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741" y="2430475"/>
            <a:ext cx="2564892" cy="156911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EEF7F8"/>
          </a:solidFill>
          <a:ln xmlns:a="http://schemas.openxmlformats.org/drawingml/2006/main" w="11430">
            <a:solidFill>
              <a:srgbClr val="C7ECED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62D06CE6-A505-41DD-BB3C-ED1D2E54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802636"/>
            <a:ext cx="1830629" cy="643738"/>
          </a:xfrm>
          <a:prstGeom xmlns:a="http://schemas.openxmlformats.org/drawingml/2006/main" prst="roundRect">
            <a:avLst>
              <a:gd name="adj" fmla="val 17045"/>
            </a:avLst>
          </a:prstGeom>
          <a:solidFill xmlns:a="http://schemas.openxmlformats.org/drawingml/2006/main">
            <a:srgbClr val="0B1D2C"/>
          </a:solidFill>
          <a:ln xmlns:a="http://schemas.openxmlformats.org/drawingml/2006/main" w="11430">
            <a:solidFill>
              <a:srgbClr val="0B1D2C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FB7742A-F32D-463D-9118-E3E08ACE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6763" y="3054096"/>
            <a:ext cx="130759" cy="130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D9EB"/>
          </a:solidFill>
          <a:ln xmlns:a="http://schemas.openxmlformats.org/drawingml/2006/main" w="12700">
            <a:solidFill>
              <a:srgbClr val="6BD9EB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779A6FB-E952-4E3E-8247-81F45A20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143" y="3054096"/>
            <a:ext cx="130759" cy="130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D9EB"/>
          </a:solidFill>
          <a:ln xmlns:a="http://schemas.openxmlformats.org/drawingml/2006/main" w="12700">
            <a:solidFill>
              <a:srgbClr val="6BD9EB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7BFD97AB-C2B5-40F6-BEB1-3A880E1E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406" y="3275381"/>
            <a:ext cx="5632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210">
            <a:solidFill>
              <a:srgbClr val="6BD9EB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B747ACB-4203-4A3C-8573-735FCB87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1957730"/>
            <a:ext cx="1790395" cy="623621"/>
          </a:xfrm>
          <a:prstGeom xmlns:a="http://schemas.openxmlformats.org/drawingml/2006/main" prst="roundRect">
            <a:avLst>
              <a:gd name="adj" fmla="val 17595"/>
            </a:avLst>
          </a:prstGeom>
          <a:solidFill xmlns:a="http://schemas.openxmlformats.org/drawingml/2006/main">
            <a:srgbClr val="D4F6F8"/>
          </a:solidFill>
          <a:ln xmlns:a="http://schemas.openxmlformats.org/drawingml/2006/main" w="11430">
            <a:solidFill>
              <a:srgbClr val="8DE4EA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EFFF9B2B-49FC-42CF-8D47-E45B3E11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427" y="2269541"/>
            <a:ext cx="1629461" cy="241402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74D8E8"/>
          </a:solidFill>
          <a:ln xmlns:a="http://schemas.openxmlformats.org/drawingml/2006/main" w="11430">
            <a:solidFill>
              <a:srgbClr val="74D8E8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08ECE62-DCBD-4209-9C0C-E867BFFE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6633" y="2973629"/>
            <a:ext cx="321869" cy="120701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B5CAD1"/>
          </a:solidFill>
          <a:ln xmlns:a="http://schemas.openxmlformats.org/drawingml/2006/main" w="11430">
            <a:solidFill>
              <a:srgbClr val="B5CAD1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E7F74782-416D-4DB1-876E-FC9850B0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3033979"/>
            <a:ext cx="0" cy="3520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B5CAD1"/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E0AF0119-6BFC-4B75-B60A-C9B68F1F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1268151" y="3446374"/>
            <a:ext cx="160934" cy="160934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0FB69E"/>
          </a:solidFill>
          <a:ln xmlns:a="http://schemas.openxmlformats.org/drawingml/2006/main" w="12700">
            <a:solidFill>
              <a:srgbClr val="0FB69E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95198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62E59C1-FA88-4D01-B6C5-0F6B515A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"/>
            <a:ext cx="9144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47DAD"/>
                </a:solidFill>
                <a:latin typeface="Inter"/>
                <a:ea typeface="Inter"/>
                <a:cs typeface="Inter"/>
              </a:rPr>
              <a:t>01  /  ZIDENTYFIKOWANY PROBLEM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B5A8A3B-D303-4C97-9B04-DAD56522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632" y="283464"/>
            <a:ext cx="777240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A7380"/>
                </a:solidFill>
                <a:latin typeface="Inter"/>
                <a:ea typeface="Inter"/>
                <a:cs typeface="Inter"/>
              </a:rPr>
              <a:t>02 / 06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7C301B0-8964-4A28-8D96-6423FF22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868680"/>
            <a:ext cx="10789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100" b="1">
                <a:solidFill>
                  <a:srgbClr val="122F40"/>
                </a:solidFill>
                <a:latin typeface="Inter"/>
                <a:ea typeface="Inter"/>
                <a:cs typeface="Inter"/>
              </a:rPr>
              <a:t>Dziś to student szuka wody.</a:t>
            </a:r>
            <a:endParaRPr sz="3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FEA3E3F-604D-4D97-8D29-6B836D28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9344"/>
            <a:ext cx="10607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20">
                <a:solidFill>
                  <a:srgbClr val="5A7380"/>
                </a:solidFill>
                <a:latin typeface="Inter"/>
                <a:ea typeface="Inter"/>
                <a:cs typeface="Inter"/>
              </a:rPr>
              <a:t>Podczas wielogodzinnych zajęć dostęp do wody bywa niewygodny i kosztowny.</a:t>
            </a:r>
            <a:endParaRPr sz="162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25F3E9B-DDE4-461D-A17B-01678F41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2240280"/>
            <a:ext cx="3639312" cy="1947672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8EB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D5655BC-8EFC-4FAA-9E26-F66893F7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505456"/>
            <a:ext cx="448056" cy="448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5F2"/>
          </a:solidFill>
          <a:ln xmlns:a="http://schemas.openxmlformats.org/drawingml/2006/main" w="12700">
            <a:solidFill>
              <a:srgbClr val="D6F5F2">
                <a:alpha val="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34ACD12-991D-4D14-9F2A-E4AE60E9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606040"/>
            <a:ext cx="365760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0FB69E"/>
                </a:solidFill>
                <a:latin typeface="Inter"/>
                <a:ea typeface="Inter"/>
                <a:cs typeface="Inter"/>
              </a:rPr>
              <a:t>01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10A68BD-BCDC-478C-BEAA-3C5B2BB7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127248"/>
            <a:ext cx="3172968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122F40"/>
                </a:solidFill>
                <a:latin typeface="Inter"/>
                <a:ea typeface="Inter"/>
                <a:cs typeface="Inter"/>
              </a:rPr>
              <a:t>BRAK WYGODY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7B1A2EA-8C09-4DAA-A992-B2211856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493008"/>
            <a:ext cx="316382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5A7380"/>
                </a:solidFill>
                <a:latin typeface="Inter"/>
                <a:ea typeface="Inter"/>
                <a:cs typeface="Inter"/>
              </a:rPr>
              <a:t>Nie ma łatwego sposobu, by szybko uzupełnić własną butelkę.</a:t>
            </a:r>
            <a:endParaRPr sz="124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1569B34-45D7-45A3-A509-F65723E3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240280"/>
            <a:ext cx="3639312" cy="1947672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8EB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E478911-E46C-4AEC-A40F-6808F7DA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505456"/>
            <a:ext cx="448056" cy="448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D7"/>
          </a:solidFill>
          <a:ln xmlns:a="http://schemas.openxmlformats.org/drawingml/2006/main" w="12700">
            <a:solidFill>
              <a:srgbClr val="FFF0D7">
                <a:alpha val="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90B225F-BE9C-49DC-8E33-D1037196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2606040"/>
            <a:ext cx="365760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BE7D20"/>
                </a:solidFill>
                <a:latin typeface="Inter"/>
                <a:ea typeface="Inter"/>
                <a:cs typeface="Inter"/>
              </a:rPr>
              <a:t>02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8D16D2F-ABF8-43D1-9750-E8F3C92C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3127248"/>
            <a:ext cx="3172968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122F40"/>
                </a:solidFill>
                <a:latin typeface="Inter"/>
                <a:ea typeface="Inter"/>
                <a:cs typeface="Inter"/>
              </a:rPr>
              <a:t>DODATKOWY KOSZT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6F79130-23D9-47F8-837D-635F087F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3493008"/>
            <a:ext cx="316382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5A7380"/>
                </a:solidFill>
                <a:latin typeface="Inter"/>
                <a:ea typeface="Inter"/>
                <a:cs typeface="Inter"/>
              </a:rPr>
              <a:t>Gdy woda się skończy, student często kupuje kolejną butelkę.</a:t>
            </a:r>
            <a:endParaRPr sz="124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7604A79-D683-4A1D-A1DF-22CD4736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2240280"/>
            <a:ext cx="3639312" cy="1947672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8EB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3F0E0A9-5097-4E16-B8FF-C5820688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224" y="2505456"/>
            <a:ext cx="448056" cy="448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DFB"/>
          </a:solidFill>
          <a:ln xmlns:a="http://schemas.openxmlformats.org/drawingml/2006/main" w="12700">
            <a:solidFill>
              <a:srgbClr val="E8EDFB">
                <a:alpha val="0"/>
              </a:srgbClr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4DDAE68-FC51-406E-9D88-1C53888E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06040"/>
            <a:ext cx="365760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897DDB"/>
                </a:solidFill>
                <a:latin typeface="Inter"/>
                <a:ea typeface="Inter"/>
                <a:cs typeface="Inter"/>
              </a:rPr>
              <a:t>03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E2364A7-53E6-48B0-8650-82BCB60C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127248"/>
            <a:ext cx="3172968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122F40"/>
                </a:solidFill>
                <a:latin typeface="Inter"/>
                <a:ea typeface="Inter"/>
                <a:cs typeface="Inter"/>
              </a:rPr>
              <a:t>BRAK ZAUFANIA</a:t>
            </a:r>
            <a:endParaRPr sz="16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1120201-1673-4F86-ACFF-E8F14CF7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493008"/>
            <a:ext cx="316382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5A7380"/>
                </a:solidFill>
                <a:latin typeface="Inter"/>
                <a:ea typeface="Inter"/>
                <a:cs typeface="Inter"/>
              </a:rPr>
              <a:t>Pojawiają się obawy o smak i jakość wody z kranu.</a:t>
            </a:r>
            <a:endParaRPr sz="124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070B211-EB80-4F29-9EC6-E3EAA873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617720"/>
            <a:ext cx="10927080" cy="1124712"/>
          </a:xfrm>
          <a:prstGeom xmlns:a="http://schemas.openxmlformats.org/drawingml/2006/main" prst="roundRect">
            <a:avLst>
              <a:gd name="adj" fmla="val 10569"/>
            </a:avLst>
          </a:prstGeom>
          <a:solidFill xmlns:a="http://schemas.openxmlformats.org/drawingml/2006/main">
            <a:srgbClr val="102A3A"/>
          </a:solidFill>
          <a:ln xmlns:a="http://schemas.openxmlformats.org/drawingml/2006/main" w="11430">
            <a:solidFill>
              <a:srgbClr val="102A3A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47C11A4-9A0E-4232-8699-A019A758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501091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B69E"/>
          </a:solidFill>
          <a:ln xmlns:a="http://schemas.openxmlformats.org/drawingml/2006/main" w="12700">
            <a:solidFill>
              <a:srgbClr val="0FB69E">
                <a:alpha val="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F729C-7E3A-4712-969B-3C83A345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5061204"/>
            <a:ext cx="1828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0B1D2C"/>
                </a:solidFill>
                <a:latin typeface="Inter"/>
                <a:ea typeface="Inter"/>
                <a:cs typeface="Inter"/>
              </a:rPr>
              <a:t>1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AC40CCC-AC2C-4811-8C31-73F52838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4965192"/>
            <a:ext cx="226771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1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Przynosi wodę</a:t>
            </a:r>
            <a:endParaRPr sz="121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54A30F8-171F-4E81-A707-6ADFD960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992624"/>
            <a:ext cx="23774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>
                <a:solidFill>
                  <a:srgbClr val="6BD9EB"/>
                </a:solidFill>
                <a:latin typeface="Inter"/>
                <a:ea typeface="Inter"/>
                <a:cs typeface="Inter"/>
              </a:rPr>
              <a:t>→</a:t>
            </a:r>
            <a:endParaRPr sz="19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848E6D3-4AC3-44EE-8F0D-11CFD0C9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6" y="501091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B69E"/>
          </a:solidFill>
          <a:ln xmlns:a="http://schemas.openxmlformats.org/drawingml/2006/main" w="12700">
            <a:solidFill>
              <a:srgbClr val="0FB69E">
                <a:alpha val="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717D926-8F8A-4721-A77C-36709A39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5061204"/>
            <a:ext cx="1828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0B1D2C"/>
                </a:solidFill>
                <a:latin typeface="Inter"/>
                <a:ea typeface="Inter"/>
                <a:cs typeface="Inter"/>
              </a:rPr>
              <a:t>2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C20128F-F818-437F-B015-3339E537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6" y="4965192"/>
            <a:ext cx="226771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1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Woda się kończy</a:t>
            </a:r>
            <a:endParaRPr sz="121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BCC9171-9996-4B3E-9BAF-14EA2E22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992624"/>
            <a:ext cx="23774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>
                <a:solidFill>
                  <a:srgbClr val="6BD9EB"/>
                </a:solidFill>
                <a:latin typeface="Inter"/>
                <a:ea typeface="Inter"/>
                <a:cs typeface="Inter"/>
              </a:rPr>
              <a:t>→</a:t>
            </a:r>
            <a:endParaRPr sz="19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CBBC8259-E3C1-4BF1-B1D8-702226E0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501091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B69E"/>
          </a:solidFill>
          <a:ln xmlns:a="http://schemas.openxmlformats.org/drawingml/2006/main" w="12700">
            <a:solidFill>
              <a:srgbClr val="0FB69E">
                <a:alpha val="0"/>
              </a:srgbClr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342E4FC-FB49-4C54-AF82-66A5E8F8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5061204"/>
            <a:ext cx="1828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0B1D2C"/>
                </a:solidFill>
                <a:latin typeface="Inter"/>
                <a:ea typeface="Inter"/>
                <a:cs typeface="Inter"/>
              </a:rPr>
              <a:t>3</a:t>
            </a:r>
            <a:endParaRPr sz="9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7C8208F-6D09-4D06-BCD8-B5E873B4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136" y="4965192"/>
            <a:ext cx="226771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1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Szuka sklepu / kranu</a:t>
            </a:r>
            <a:endParaRPr sz="121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6941F3D3-0087-4AE9-8727-83790DEA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992624"/>
            <a:ext cx="23774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>
                <a:solidFill>
                  <a:srgbClr val="6BD9EB"/>
                </a:solidFill>
                <a:latin typeface="Inter"/>
                <a:ea typeface="Inter"/>
                <a:cs typeface="Inter"/>
              </a:rPr>
              <a:t>→</a:t>
            </a:r>
            <a:endParaRPr sz="19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A4CDE248-9635-4341-A875-12CDB4D3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501091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35F"/>
          </a:solidFill>
          <a:ln xmlns:a="http://schemas.openxmlformats.org/drawingml/2006/main" w="12700">
            <a:solidFill>
              <a:srgbClr val="F4B35F">
                <a:alpha val="0"/>
              </a:srgbClr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C19B0A2C-6FC4-4757-B488-F2756C81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5061204"/>
            <a:ext cx="1828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0B1D2C"/>
                </a:solidFill>
                <a:latin typeface="Inter"/>
                <a:ea typeface="Inter"/>
                <a:cs typeface="Inter"/>
              </a:rPr>
              <a:t>4</a:t>
            </a:r>
            <a:endParaRPr sz="9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385089D5-051E-4C83-86B3-4B0D1F7B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336" y="4965192"/>
            <a:ext cx="226771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1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Traci czas lub pieniądze</a:t>
            </a:r>
            <a:endParaRPr sz="121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1FD4A437-D778-4E38-8E4C-59BEFBD1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5989320"/>
            <a:ext cx="10607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5A7380"/>
                </a:solidFill>
                <a:latin typeface="Inter"/>
                <a:ea typeface="Inter"/>
                <a:cs typeface="Inter"/>
              </a:rPr>
              <a:t>Podstawa: Wasza mapa empatii i Customer Journey Map — hipotezy do potwierdzenia wywiadami.</a:t>
            </a:r>
            <a:endParaRPr sz="100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155FC6E9-D589-4858-8364-AE9401E4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6492240"/>
            <a:ext cx="109636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CE8EB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A8651906-1A4E-42B8-A8CE-6D2FA070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6556248"/>
            <a:ext cx="36576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30" b="1">
                <a:solidFill>
                  <a:srgbClr val="92A9B6"/>
                </a:solidFill>
                <a:latin typeface="Inter"/>
                <a:ea typeface="Inter"/>
                <a:cs typeface="Inter"/>
              </a:rPr>
              <a:t>HYDROBOT  ·  EiTI SMART WATER</a:t>
            </a:r>
            <a:endParaRPr sz="830"/>
          </a:p>
        </p:txBody>
      </p:sp>
    </p:spTree>
    <p:extLst>
      <p:ext uri="{BB962C8B-B14F-4D97-AF65-F5344CB8AC3E}">
        <p14:creationId xmlns:p14="http://schemas.microsoft.com/office/powerpoint/2010/main" val="20397064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FD5755E-E542-4132-8E92-C829BB25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"/>
            <a:ext cx="9144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47DAD"/>
                </a:solidFill>
                <a:latin typeface="Inter"/>
                <a:ea typeface="Inter"/>
                <a:cs typeface="Inter"/>
              </a:rPr>
              <a:t>02  /  PERSONA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28F0135-7E0B-436B-98E2-B394A902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632" y="283464"/>
            <a:ext cx="777240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A7380"/>
                </a:solidFill>
                <a:latin typeface="Inter"/>
                <a:ea typeface="Inter"/>
                <a:cs typeface="Inter"/>
              </a:rPr>
              <a:t>03 / 06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A85123A-0ABA-496B-AB6D-6959A738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859536"/>
            <a:ext cx="1069848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50" b="1">
                <a:solidFill>
                  <a:srgbClr val="122F40"/>
                </a:solidFill>
                <a:latin typeface="Inter"/>
                <a:ea typeface="Inter"/>
                <a:cs typeface="Inter"/>
              </a:rPr>
              <a:t>Dla kogo projektujemy?</a:t>
            </a:r>
            <a:endParaRPr sz="3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41C2A49-4F2D-48BC-989B-D752EC93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28216"/>
            <a:ext cx="3685032" cy="4105656"/>
          </a:xfrm>
          <a:prstGeom xmlns:a="http://schemas.openxmlformats.org/drawingml/2006/main" prst="roundRect">
            <a:avLst>
              <a:gd name="adj" fmla="val 2978"/>
            </a:avLst>
          </a:prstGeom>
          <a:solidFill xmlns:a="http://schemas.openxmlformats.org/drawingml/2006/main">
            <a:srgbClr val="102A3A"/>
          </a:solidFill>
          <a:ln xmlns:a="http://schemas.openxmlformats.org/drawingml/2006/main" w="11430">
            <a:solidFill>
              <a:srgbClr val="102A3A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F9EAFEE-A065-485C-88F9-052713C0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075688"/>
            <a:ext cx="1399032" cy="1399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77E"/>
          </a:solidFill>
          <a:ln xmlns:a="http://schemas.openxmlformats.org/drawingml/2006/main" w="12700">
            <a:solidFill>
              <a:srgbClr val="24677E">
                <a:alpha val="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4B612C9-A945-485F-BA3B-32F1591F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984" y="2359152"/>
            <a:ext cx="484632" cy="4846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89B"/>
          </a:solidFill>
          <a:ln xmlns:a="http://schemas.openxmlformats.org/drawingml/2006/main" w="12700">
            <a:solidFill>
              <a:srgbClr val="E4B89B">
                <a:alpha val="0"/>
              </a:srgbClr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09F67CA-6176-4756-A65E-A9E55B88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984248" y="2825496"/>
            <a:ext cx="841248" cy="749808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E4B89B"/>
          </a:solidFill>
          <a:ln xmlns:a="http://schemas.openxmlformats.org/drawingml/2006/main" w="12700">
            <a:solidFill>
              <a:srgbClr val="E4B89B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A683B61-FE89-42C9-8580-8B3F59BF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232" y="3008376"/>
            <a:ext cx="1097280" cy="521208"/>
          </a:xfrm>
          <a:prstGeom xmlns:a="http://schemas.openxmlformats.org/drawingml/2006/main" prst="roundRect">
            <a:avLst>
              <a:gd name="adj" fmla="val 49123"/>
            </a:avLst>
          </a:prstGeom>
          <a:solidFill xmlns:a="http://schemas.openxmlformats.org/drawingml/2006/main">
            <a:srgbClr val="DCECE9"/>
          </a:solidFill>
          <a:ln xmlns:a="http://schemas.openxmlformats.org/drawingml/2006/main" w="11430">
            <a:solidFill>
              <a:srgbClr val="DCECE9">
                <a:alpha val="0"/>
              </a:srgbClr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4607118-27EB-4F4F-9901-C7294EF8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895344"/>
            <a:ext cx="299008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1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JAKUB</a:t>
            </a:r>
            <a:endParaRPr sz="3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F9420FF-16F7-47D7-AD69-4690DDB0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4480560"/>
            <a:ext cx="3081528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6BD9EB"/>
                </a:solidFill>
                <a:latin typeface="Inter"/>
                <a:ea typeface="Inter"/>
                <a:cs typeface="Inter"/>
              </a:rPr>
              <a:t>21 lat  •  Student EiTI</a:t>
            </a:r>
            <a:endParaRPr sz="15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AB6B67D-BA55-4BD8-A920-CE393661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928616"/>
            <a:ext cx="2468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3B607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5E82982-7E61-47AE-8EA0-EAF8BE03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138928"/>
            <a:ext cx="288950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60">
                <a:solidFill>
                  <a:srgbClr val="C1D6DD"/>
                </a:solidFill>
                <a:latin typeface="Inter"/>
                <a:ea typeface="Inter"/>
                <a:cs typeface="Inter"/>
              </a:rPr>
              <a:t>Spędza na wydziale wiele godzin.</a:t>
            </a:r>
            <a:endParaRPr sz="1260"/>
          </a:p>
          <a:p xmlns:a="http://schemas.openxmlformats.org/drawingml/2006/main">
            <a:pPr marL="0" indent="0" algn="ctr">
              <a:buNone/>
            </a:pPr>
            <a:r>
              <a:rPr sz="1260">
                <a:solidFill>
                  <a:srgbClr val="C1D6DD"/>
                </a:solidFill>
                <a:latin typeface="Inter"/>
                <a:ea typeface="Inter"/>
                <a:cs typeface="Inter"/>
              </a:rPr>
              <a:t>Ma ograniczony czas między zajęciami.</a:t>
            </a:r>
            <a:endParaRPr sz="126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A5DB57A-B3A5-4448-9900-A86AC9FD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1773936"/>
            <a:ext cx="6922008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8EB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3C37521-50A9-4E9D-93FE-F7B50C11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773936"/>
            <a:ext cx="77724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AD"/>
          </a:solidFill>
          <a:ln xmlns:a="http://schemas.openxmlformats.org/drawingml/2006/main" w="11430">
            <a:solidFill>
              <a:srgbClr val="147DAD">
                <a:alpha val="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C603E3D-B74A-4C61-AD6F-64F6EA77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1911096"/>
            <a:ext cx="6080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147DAD"/>
                </a:solidFill>
                <a:latin typeface="Inter"/>
                <a:ea typeface="Inter"/>
                <a:cs typeface="Inter"/>
              </a:rPr>
              <a:t>CO ROBI?</a:t>
            </a:r>
            <a:endParaRPr sz="1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122E9D5-9CB2-4A92-A2B9-9B1DA170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2231136"/>
            <a:ext cx="63185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10">
                <a:solidFill>
                  <a:srgbClr val="122F40"/>
                </a:solidFill>
                <a:latin typeface="Inter"/>
                <a:ea typeface="Inter"/>
                <a:cs typeface="Inter"/>
              </a:rPr>
              <a:t>Przynosi butelkę, pije podczas zajęć i czasem dokupuje wodę.</a:t>
            </a:r>
            <a:endParaRPr sz="151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1225AF1-7247-4B6B-B8CC-6DFE1DA2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3035808"/>
            <a:ext cx="6922008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8EB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4AD6772-D055-4176-A69E-87F4BB3E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035808"/>
            <a:ext cx="77724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E62"/>
          </a:solidFill>
          <a:ln xmlns:a="http://schemas.openxmlformats.org/drawingml/2006/main" w="11430">
            <a:solidFill>
              <a:srgbClr val="DD5E62">
                <a:alpha val="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96E35B2-5E57-4ACD-8D50-F15ECF54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3172968"/>
            <a:ext cx="6080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DD5E62"/>
                </a:solidFill>
                <a:latin typeface="Inter"/>
                <a:ea typeface="Inter"/>
                <a:cs typeface="Inter"/>
              </a:rPr>
              <a:t>CO GO FRUSTRUJE?</a:t>
            </a:r>
            <a:endParaRPr sz="11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F21E873-8740-4438-9873-E7CF374B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3493008"/>
            <a:ext cx="63185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10">
                <a:solidFill>
                  <a:srgbClr val="122F40"/>
                </a:solidFill>
                <a:latin typeface="Inter"/>
                <a:ea typeface="Inter"/>
                <a:cs typeface="Inter"/>
              </a:rPr>
              <a:t>Konieczność wychodzenia do sklepu, koszt i brak miejsca do uzupełnienia.</a:t>
            </a:r>
            <a:endParaRPr sz="151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B265A72-F274-4A7F-8E59-2A0BCA6D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4297680"/>
            <a:ext cx="6922008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8EB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D783D19-5E26-4121-BDCE-643FA6B3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4297680"/>
            <a:ext cx="77724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B69E"/>
          </a:solidFill>
          <a:ln xmlns:a="http://schemas.openxmlformats.org/drawingml/2006/main" w="11430">
            <a:solidFill>
              <a:srgbClr val="0FB69E">
                <a:alpha val="0"/>
              </a:srgbClr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4406CFB-BDF6-4BC4-AB2E-A7486850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4434840"/>
            <a:ext cx="6080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0FB69E"/>
                </a:solidFill>
                <a:latin typeface="Inter"/>
                <a:ea typeface="Inter"/>
                <a:cs typeface="Inter"/>
              </a:rPr>
              <a:t>CZEGO POTRZEBUJE?</a:t>
            </a:r>
            <a:endParaRPr sz="11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C9BA8CD-D936-474A-8E9D-0706A0FD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4754880"/>
            <a:ext cx="63185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10">
                <a:solidFill>
                  <a:srgbClr val="122F40"/>
                </a:solidFill>
                <a:latin typeface="Inter"/>
                <a:ea typeface="Inter"/>
                <a:cs typeface="Inter"/>
              </a:rPr>
              <a:t>Szybkiej, bezpłatnej, bezpiecznej i dostępnej wody na wydziale.</a:t>
            </a:r>
            <a:endParaRPr sz="151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8FF529B4-572A-4AFA-B719-9ADDC8CA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5605272"/>
            <a:ext cx="6867144" cy="365760"/>
          </a:xfrm>
          <a:prstGeom xmlns:a="http://schemas.openxmlformats.org/drawingml/2006/main" prst="roundRect">
            <a:avLst>
              <a:gd name="adj" fmla="val 32500"/>
            </a:avLst>
          </a:prstGeom>
          <a:solidFill xmlns:a="http://schemas.openxmlformats.org/drawingml/2006/main">
            <a:srgbClr val="E1F7F3"/>
          </a:solidFill>
          <a:ln xmlns:a="http://schemas.openxmlformats.org/drawingml/2006/main" w="1143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4A9D2FF-FCE2-472D-9B3E-8DC005F9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5673852"/>
            <a:ext cx="6537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 i="1">
                <a:solidFill>
                  <a:srgbClr val="122F40"/>
                </a:solidFill>
                <a:latin typeface="Inter"/>
                <a:ea typeface="Inter"/>
                <a:cs typeface="Inter"/>
              </a:rPr>
              <a:t>„Chcę po prostu uzupełnić wodę, bez kupowania kolejnej butelki.”</a:t>
            </a:r>
            <a:endParaRPr sz="122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F9218A3-21B6-4556-9395-FA44F8BD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181344"/>
            <a:ext cx="7772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A7380"/>
                </a:solidFill>
                <a:latin typeface="Inter"/>
                <a:ea typeface="Inter"/>
                <a:cs typeface="Inter"/>
              </a:rPr>
              <a:t>Persona modelowa — imię, wiek i cytat są przykładowe.</a:t>
            </a:r>
            <a:endParaRPr sz="9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21D7757-E5FD-4BAE-8E11-0F44E754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6492240"/>
            <a:ext cx="109636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CE8EB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9407A5C-6EA1-4365-96C4-8B0D422F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6556248"/>
            <a:ext cx="36576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30" b="1">
                <a:solidFill>
                  <a:srgbClr val="92A9B6"/>
                </a:solidFill>
                <a:latin typeface="Inter"/>
                <a:ea typeface="Inter"/>
                <a:cs typeface="Inter"/>
              </a:rPr>
              <a:t>HYDROBOT  ·  EiTI SMART WATER</a:t>
            </a:r>
            <a:endParaRPr sz="830"/>
          </a:p>
        </p:txBody>
      </p:sp>
    </p:spTree>
    <p:extLst>
      <p:ext uri="{BB962C8B-B14F-4D97-AF65-F5344CB8AC3E}">
        <p14:creationId xmlns:p14="http://schemas.microsoft.com/office/powerpoint/2010/main" val="10102215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D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F3BFFC7-656C-4E4B-A086-E0DF19F8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"/>
            <a:ext cx="9144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6BD9EB"/>
                </a:solidFill>
                <a:latin typeface="Inter"/>
                <a:ea typeface="Inter"/>
                <a:cs typeface="Inter"/>
              </a:rPr>
              <a:t>03  /  MAPA INTERESARIUSZY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C913A0-36D2-4BCF-A16B-062A4F71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632" y="283464"/>
            <a:ext cx="777240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2A9B6"/>
                </a:solidFill>
                <a:latin typeface="Inter"/>
                <a:ea typeface="Inter"/>
                <a:cs typeface="Inter"/>
              </a:rPr>
              <a:t>04 / 06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FF2FCE1-99D1-41F6-A4B4-834D2E68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877824"/>
            <a:ext cx="10972800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1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Student to główny interesariusz.</a:t>
            </a:r>
            <a:endParaRPr sz="3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11F0985-72AD-4CD4-A886-6AC3C7F7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789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>
                <a:solidFill>
                  <a:srgbClr val="B7D1DB"/>
                </a:solidFill>
                <a:latin typeface="Inter"/>
                <a:ea typeface="Inter"/>
                <a:cs typeface="Inter"/>
              </a:rPr>
              <a:t>Jest użytkownikiem końcowym i bezpośrednim odbiorcą korzyści — ale nie podejmuje decyzji o finansowaniu.</a:t>
            </a:r>
            <a:endParaRPr sz="15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61C204F-91A8-4812-B151-74A876E7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87752"/>
            <a:ext cx="2935224" cy="29352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50"/>
          </a:solidFill>
          <a:ln xmlns:a="http://schemas.openxmlformats.org/drawingml/2006/main" w="12700">
            <a:solidFill>
              <a:srgbClr val="2A7982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0E482D8-F7BB-487D-993B-0266F11C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504" y="3108960"/>
            <a:ext cx="1325880" cy="1325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B69E"/>
          </a:solidFill>
          <a:ln xmlns:a="http://schemas.openxmlformats.org/drawingml/2006/main" w="12700">
            <a:solidFill>
              <a:srgbClr val="0FB69E">
                <a:alpha val="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3D93BFA-F9CB-4BC1-B460-A07D2925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232" y="3602736"/>
            <a:ext cx="10607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B1D2C"/>
                </a:solidFill>
                <a:latin typeface="Inter"/>
                <a:ea typeface="Inter"/>
                <a:cs typeface="Inter"/>
              </a:rPr>
              <a:t>STUDENT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AC0B12E-599C-4B8F-97CB-9208A0F6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2688336"/>
            <a:ext cx="1783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30" b="1">
                <a:solidFill>
                  <a:srgbClr val="6BD9EB"/>
                </a:solidFill>
                <a:latin typeface="Inter"/>
                <a:ea typeface="Inter"/>
                <a:cs typeface="Inter"/>
              </a:rPr>
              <a:t>UŻYTKOWNIK</a:t>
            </a:r>
            <a:endParaRPr sz="113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EBCB9F4-8264-4643-9712-74CD13F7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441448"/>
            <a:ext cx="6848856" cy="86868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53447"/>
          </a:solidFill>
          <a:ln xmlns:a="http://schemas.openxmlformats.org/drawingml/2006/main" w="11430">
            <a:solidFill>
              <a:srgbClr val="2C5567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D01E75B-23DF-4841-BF6B-94E23EC0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441448"/>
            <a:ext cx="6400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B69E"/>
          </a:solidFill>
          <a:ln xmlns:a="http://schemas.openxmlformats.org/drawingml/2006/main" w="11430">
            <a:solidFill>
              <a:srgbClr val="0FB69E">
                <a:alpha val="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4C4ED72-0F33-4EB3-8BD9-B3B076B6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464" y="2532888"/>
            <a:ext cx="630021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40" b="1">
                <a:solidFill>
                  <a:srgbClr val="6BD9EB"/>
                </a:solidFill>
                <a:latin typeface="Inter"/>
                <a:ea typeface="Inter"/>
                <a:cs typeface="Inter"/>
              </a:rPr>
              <a:t>UŻYTKOWNIK BEZPOŚREDNI</a:t>
            </a:r>
            <a:endParaRPr sz="124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C05C3BD-76BE-415D-B1C1-67270FA3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464" y="2834640"/>
            <a:ext cx="631850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FFFFFF"/>
                </a:solidFill>
                <a:latin typeface="Inter"/>
                <a:ea typeface="Inter"/>
                <a:cs typeface="Inter"/>
              </a:rPr>
              <a:t>Korzysta z dystrybutora na co dzień.</a:t>
            </a:r>
            <a:endParaRPr sz="13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DFB78B3-A458-48BC-9523-D82387B3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456432"/>
            <a:ext cx="6848856" cy="86868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53447"/>
          </a:solidFill>
          <a:ln xmlns:a="http://schemas.openxmlformats.org/drawingml/2006/main" w="11430">
            <a:solidFill>
              <a:srgbClr val="2C5567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860748F-323B-4EFA-93A0-641A41D8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456432"/>
            <a:ext cx="6400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B69E"/>
          </a:solidFill>
          <a:ln xmlns:a="http://schemas.openxmlformats.org/drawingml/2006/main" w="11430">
            <a:solidFill>
              <a:srgbClr val="0FB69E">
                <a:alpha val="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302A578-D76E-48BE-96DB-FA52DE48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464" y="3547872"/>
            <a:ext cx="630021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40" b="1">
                <a:solidFill>
                  <a:srgbClr val="6BD9EB"/>
                </a:solidFill>
                <a:latin typeface="Inter"/>
                <a:ea typeface="Inter"/>
                <a:cs typeface="Inter"/>
              </a:rPr>
              <a:t>ŹRÓDŁO WYMAGAŃ</a:t>
            </a:r>
            <a:endParaRPr sz="124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0A0CB84-D738-40CF-9F18-B5CE6C33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464" y="3849624"/>
            <a:ext cx="631850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FFFFFF"/>
                </a:solidFill>
                <a:latin typeface="Inter"/>
                <a:ea typeface="Inter"/>
                <a:cs typeface="Inter"/>
              </a:rPr>
              <a:t>Jego potrzeby wskazują, co prototyp powinien robić.</a:t>
            </a:r>
            <a:endParaRPr sz="13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986A994-8AAA-433C-89BD-766CD488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471416"/>
            <a:ext cx="6848856" cy="86868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53447"/>
          </a:solidFill>
          <a:ln xmlns:a="http://schemas.openxmlformats.org/drawingml/2006/main" w="11430">
            <a:solidFill>
              <a:srgbClr val="2C5567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05D745E-D6EF-411D-B477-92C89176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471416"/>
            <a:ext cx="6400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B69E"/>
          </a:solidFill>
          <a:ln xmlns:a="http://schemas.openxmlformats.org/drawingml/2006/main" w="11430">
            <a:solidFill>
              <a:srgbClr val="0FB69E">
                <a:alpha val="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C59DA03-8C73-4A2A-8136-23C10DCE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464" y="4562856"/>
            <a:ext cx="630021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40" b="1">
                <a:solidFill>
                  <a:srgbClr val="6BD9EB"/>
                </a:solidFill>
                <a:latin typeface="Inter"/>
                <a:ea typeface="Inter"/>
                <a:cs typeface="Inter"/>
              </a:rPr>
              <a:t>BENEFICJENT</a:t>
            </a:r>
            <a:endParaRPr sz="124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C3397B6-1FA1-4307-9973-8B3C24F4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464" y="4864608"/>
            <a:ext cx="631850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FFFFFF"/>
                </a:solidFill>
                <a:latin typeface="Inter"/>
                <a:ea typeface="Inter"/>
                <a:cs typeface="Inter"/>
              </a:rPr>
              <a:t>Zyskuje wygodę, czas i potencjalne oszczędności.</a:t>
            </a:r>
            <a:endParaRPr sz="13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27887A6-004D-4BDD-97A0-F36A042D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60720"/>
            <a:ext cx="10881360" cy="420624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163648"/>
          </a:solidFill>
          <a:ln xmlns:a="http://schemas.openxmlformats.org/drawingml/2006/main" w="11430">
            <a:solidFill>
              <a:srgbClr val="163648">
                <a:alpha val="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3DA3BD2-ECE6-4599-A2CC-8286F778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5870448"/>
            <a:ext cx="1046988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B8D9E2"/>
                </a:solidFill>
                <a:latin typeface="Inter"/>
                <a:ea typeface="Inter"/>
                <a:cs typeface="Inter"/>
              </a:rPr>
              <a:t>Pozostali: władze wydziału – decyzje i budżet    •    obsługa techniczna – utrzymanie    •    zespół – projekt i prototyp</a:t>
            </a:r>
            <a:endParaRPr sz="11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CDBB507-B443-43D7-A074-7B89E128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6492240"/>
            <a:ext cx="109636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294657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50A1C40-C8D0-48ED-A737-E494805A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6556248"/>
            <a:ext cx="36576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30" b="1">
                <a:solidFill>
                  <a:srgbClr val="829BAA"/>
                </a:solidFill>
                <a:latin typeface="Inter"/>
                <a:ea typeface="Inter"/>
                <a:cs typeface="Inter"/>
              </a:rPr>
              <a:t>HYDROBOT  ·  EiTI SMART WATER</a:t>
            </a:r>
            <a:endParaRPr sz="830"/>
          </a:p>
        </p:txBody>
      </p:sp>
    </p:spTree>
    <p:extLst>
      <p:ext uri="{BB962C8B-B14F-4D97-AF65-F5344CB8AC3E}">
        <p14:creationId xmlns:p14="http://schemas.microsoft.com/office/powerpoint/2010/main" val="9374260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027E821-1BA5-47EE-9192-281F6014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"/>
            <a:ext cx="9144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47DAD"/>
                </a:solidFill>
                <a:latin typeface="Inter"/>
                <a:ea typeface="Inter"/>
                <a:cs typeface="Inter"/>
              </a:rPr>
              <a:t>04  /  PROTOTYP DO DEMONSTRACJI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A68C433-83EC-40BD-AED4-CCDA9BBB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632" y="283464"/>
            <a:ext cx="777240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A7380"/>
                </a:solidFill>
                <a:latin typeface="Inter"/>
                <a:ea typeface="Inter"/>
                <a:cs typeface="Inter"/>
              </a:rPr>
              <a:t>05 / 06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7239301-5107-4190-9210-6B3C0D6C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841248"/>
            <a:ext cx="1097280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122F40"/>
                </a:solidFill>
                <a:latin typeface="Inter"/>
                <a:ea typeface="Inter"/>
                <a:cs typeface="Inter"/>
              </a:rPr>
              <a:t>Od pomysłu do działającego nalewania.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392B222-66A6-4CB9-AE61-D0F81CBD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1563624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70">
                <a:solidFill>
                  <a:srgbClr val="5A7380"/>
                </a:solidFill>
                <a:latin typeface="Inter"/>
                <a:ea typeface="Inter"/>
                <a:cs typeface="Inter"/>
              </a:rPr>
              <a:t>Pierwszy etap: stacjonarny moduł z pompką, sterowaniem i interfejsem użytkownika.</a:t>
            </a:r>
            <a:endParaRPr sz="157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38E2640-0B82-4DFD-90CB-78817F16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093976"/>
            <a:ext cx="7370064" cy="3611880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8EB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0778078-44EF-4A01-8430-41DFE757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2752344"/>
            <a:ext cx="1197864" cy="1572768"/>
          </a:xfrm>
          <a:prstGeom xmlns:a="http://schemas.openxmlformats.org/drawingml/2006/main" prst="roundRect">
            <a:avLst>
              <a:gd name="adj" fmla="val 9160"/>
            </a:avLst>
          </a:prstGeom>
          <a:solidFill xmlns:a="http://schemas.openxmlformats.org/drawingml/2006/main">
            <a:srgbClr val="DDF5F8"/>
          </a:solidFill>
          <a:ln xmlns:a="http://schemas.openxmlformats.org/drawingml/2006/main" w="11430">
            <a:solidFill>
              <a:srgbClr val="91D4E0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E612F07-CA49-431C-8D2D-13912A07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3438144"/>
            <a:ext cx="1014984" cy="768096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97DFE9"/>
          </a:solidFill>
          <a:ln xmlns:a="http://schemas.openxmlformats.org/drawingml/2006/main" w="11430">
            <a:solidFill>
              <a:srgbClr val="97DFE9">
                <a:alpha val="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58C5628-869A-4338-A0A2-CBBF08E0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471416"/>
            <a:ext cx="11887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A7380"/>
                </a:solidFill>
                <a:latin typeface="Inter"/>
                <a:ea typeface="Inter"/>
                <a:cs typeface="Inter"/>
              </a:rPr>
              <a:t>ZBIORNIK</a:t>
            </a:r>
            <a:endParaRPr sz="10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E7078C2-76B2-4D50-A8C2-A97ED879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3136392"/>
            <a:ext cx="1143000" cy="914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FF8F1"/>
          </a:solidFill>
          <a:ln xmlns:a="http://schemas.openxmlformats.org/drawingml/2006/main" w="11430">
            <a:solidFill>
              <a:srgbClr val="84D9CC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3F32FDD-2A64-4EBB-B395-8C185184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32841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B69E"/>
          </a:solidFill>
          <a:ln xmlns:a="http://schemas.openxmlformats.org/drawingml/2006/main" w="12700">
            <a:solidFill>
              <a:srgbClr val="0FB69E">
                <a:alpha val="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1FB371F-3D51-4983-B0EE-00A9AC6D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279392"/>
            <a:ext cx="101498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A7380"/>
                </a:solidFill>
                <a:latin typeface="Inter"/>
                <a:ea typeface="Inter"/>
                <a:cs typeface="Inter"/>
              </a:rPr>
              <a:t>POMPKA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13CE946-0CDD-43C9-B6FB-B2C204E7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3447288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0FB69E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19270A8-24F5-4F60-B691-D03F92FB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496" y="3447288"/>
            <a:ext cx="9509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0FB69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EBE3A0D-8BA2-4B43-BE42-5168FCB1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3447288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0FB69E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7138A8F-9B2F-40E5-AA92-A54D8610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864608" y="3867912"/>
            <a:ext cx="146304" cy="146304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0FB69E"/>
          </a:solidFill>
          <a:ln xmlns:a="http://schemas.openxmlformats.org/drawingml/2006/main" w="12700">
            <a:solidFill>
              <a:srgbClr val="0FB69E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D9A387B-3ABF-41C9-A0FF-397A4F8A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333" y="4114800"/>
            <a:ext cx="364846" cy="134417"/>
          </a:xfrm>
          <a:prstGeom xmlns:a="http://schemas.openxmlformats.org/drawingml/2006/main" prst="roundRect">
            <a:avLst>
              <a:gd name="adj" fmla="val 27211"/>
            </a:avLst>
          </a:prstGeom>
          <a:solidFill xmlns:a="http://schemas.openxmlformats.org/drawingml/2006/main">
            <a:srgbClr val="6BD9EB"/>
          </a:solidFill>
          <a:ln xmlns:a="http://schemas.openxmlformats.org/drawingml/2006/main" w="11430">
            <a:solidFill>
              <a:srgbClr val="6BD9EB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AA5A08ED-8E4F-4735-B877-62659C63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454" y="4059936"/>
            <a:ext cx="260604" cy="82296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6BD9EB"/>
          </a:solidFill>
          <a:ln xmlns:a="http://schemas.openxmlformats.org/drawingml/2006/main" w="11430">
            <a:solidFill>
              <a:srgbClr val="6BD9EB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8732702-C881-48F2-88B1-AA8B479D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4210812"/>
            <a:ext cx="868680" cy="864108"/>
          </a:xfrm>
          <a:prstGeom xmlns:a="http://schemas.openxmlformats.org/drawingml/2006/main" prst="roundRect">
            <a:avLst>
              <a:gd name="adj" fmla="val 8466"/>
            </a:avLst>
          </a:prstGeom>
          <a:solidFill xmlns:a="http://schemas.openxmlformats.org/drawingml/2006/main">
            <a:srgbClr val="E5F7FA"/>
          </a:solidFill>
          <a:ln xmlns:a="http://schemas.openxmlformats.org/drawingml/2006/main" w="11430">
            <a:solidFill>
              <a:srgbClr val="9DD4E2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F81AEAF-2762-4EBE-A85A-9C5CFA92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4700473"/>
            <a:ext cx="722376" cy="24003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C5F1F6"/>
          </a:solidFill>
          <a:ln xmlns:a="http://schemas.openxmlformats.org/drawingml/2006/main" w="11430">
            <a:solidFill>
              <a:srgbClr val="C5F1F6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A4D71CF-C3AB-4396-B1BF-70216E3A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4700473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79D1E6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E8F3B6B-8D08-4BA3-9D59-148F82F8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5138928"/>
            <a:ext cx="1426464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A"/>
          </a:solidFill>
          <a:ln xmlns:a="http://schemas.openxmlformats.org/drawingml/2006/main" w="11430">
            <a:solidFill>
              <a:srgbClr val="102A3A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0F63FF4-FF0A-4746-899B-01181783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5276088"/>
            <a:ext cx="1225296" cy="201168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A3A"/>
          </a:solidFill>
          <a:ln xmlns:a="http://schemas.openxmlformats.org/drawingml/2006/main" w="11430">
            <a:solidFill>
              <a:srgbClr val="102A3A">
                <a:alpha val="0"/>
              </a:srgbClr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0168118-3CEE-48F7-9E16-46FCB13A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72" y="5513832"/>
            <a:ext cx="145389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A7380"/>
                </a:solidFill>
                <a:latin typeface="Inter"/>
                <a:ea typeface="Inter"/>
                <a:cs typeface="Inter"/>
              </a:rPr>
              <a:t>BUTELKA</a:t>
            </a:r>
            <a:endParaRPr sz="10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944B615-E468-42C6-BB28-B91C75CC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464" y="2523744"/>
            <a:ext cx="1691640" cy="251460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02A3A"/>
          </a:solidFill>
          <a:ln xmlns:a="http://schemas.openxmlformats.org/drawingml/2006/main" w="11430">
            <a:solidFill>
              <a:srgbClr val="102A3A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5207C810-1EC2-480E-ADF5-B6C782CB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2798064"/>
            <a:ext cx="128016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720"/>
          </a:solidFill>
          <a:ln xmlns:a="http://schemas.openxmlformats.org/drawingml/2006/main" w="11430">
            <a:solidFill>
              <a:srgbClr val="081720">
                <a:alpha val="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AA8BFA4-4553-4C8F-9E01-BECFDF10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017520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6BD9EB"/>
                </a:solidFill>
                <a:latin typeface="Inter"/>
                <a:ea typeface="Inter"/>
                <a:cs typeface="Inter"/>
              </a:rPr>
              <a:t>250 ml</a:t>
            </a:r>
            <a:endParaRPr sz="19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973671AD-DB18-4E6C-BBCA-FA832E45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384962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B69E"/>
          </a:solidFill>
          <a:ln xmlns:a="http://schemas.openxmlformats.org/drawingml/2006/main" w="12700">
            <a:solidFill>
              <a:srgbClr val="0FB69E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09763ED-AF6E-4F71-B56D-E1EA5F4C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6" y="384962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35F"/>
          </a:solidFill>
          <a:ln xmlns:a="http://schemas.openxmlformats.org/drawingml/2006/main" w="12700">
            <a:solidFill>
              <a:srgbClr val="F4B35F">
                <a:alpha val="0"/>
              </a:srgbClr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C447330-D374-415A-8731-E997622F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4315968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START</a:t>
            </a:r>
            <a:endParaRPr sz="9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8F6BE99-F8EC-4FD0-8407-5273C0F7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315968"/>
            <a:ext cx="51206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STOP</a:t>
            </a:r>
            <a:endParaRPr sz="9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C238892-1D53-49A2-AE69-57B9562B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047488"/>
            <a:ext cx="0" cy="3291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147DAD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B892153-9B20-481B-B1CF-E101D875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5468112"/>
            <a:ext cx="135331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5A7380"/>
                </a:solidFill>
                <a:latin typeface="Inter"/>
                <a:ea typeface="Inter"/>
                <a:cs typeface="Inter"/>
              </a:rPr>
              <a:t>STEROWNIK</a:t>
            </a:r>
            <a:endParaRPr sz="98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A15F4481-7AE7-44CC-A94E-CF313C6A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2093976"/>
            <a:ext cx="3346704" cy="361188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8F5F6"/>
          </a:solidFill>
          <a:ln xmlns:a="http://schemas.openxmlformats.org/drawingml/2006/main" w="11430">
            <a:solidFill>
              <a:srgbClr val="D2E8EC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6147989C-95B5-4872-B5A2-37E8A0F6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423160"/>
            <a:ext cx="2697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47DAD"/>
                </a:solidFill>
                <a:latin typeface="Inter"/>
                <a:ea typeface="Inter"/>
                <a:cs typeface="Inter"/>
              </a:rPr>
              <a:t>CO POKAŻEMY?</a:t>
            </a:r>
            <a:endParaRPr sz="140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67A41156-06C9-4828-B935-67C7C418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2999232"/>
            <a:ext cx="301752" cy="3017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B69E"/>
          </a:solidFill>
          <a:ln xmlns:a="http://schemas.openxmlformats.org/drawingml/2006/main" w="12700">
            <a:solidFill>
              <a:srgbClr val="0FB69E">
                <a:alpha val="0"/>
              </a:srgbClr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EBBC941-7978-4C52-9B9E-EF564FD9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3067812"/>
            <a:ext cx="118872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  <a:endParaRPr sz="10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AB041E53-A7E2-4AE3-9FEE-5BF59DB7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264" y="2962656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22F40"/>
                </a:solidFill>
                <a:latin typeface="Inter"/>
                <a:ea typeface="Inter"/>
                <a:cs typeface="Inter"/>
              </a:rPr>
              <a:t>Wybór porcji</a:t>
            </a:r>
            <a:endParaRPr sz="125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F3A8BAF3-E4D7-4F05-A3E0-448604B9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264" y="3246120"/>
            <a:ext cx="219456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>
                <a:solidFill>
                  <a:srgbClr val="5A7380"/>
                </a:solidFill>
                <a:latin typeface="Inter"/>
                <a:ea typeface="Inter"/>
                <a:cs typeface="Inter"/>
              </a:rPr>
              <a:t>Użytkownik ustawia ilość wody.</a:t>
            </a:r>
            <a:endParaRPr sz="104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5516827D-579E-48AB-B4EE-6F7F7FBA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3794760"/>
            <a:ext cx="301752" cy="3017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B69E"/>
          </a:solidFill>
          <a:ln xmlns:a="http://schemas.openxmlformats.org/drawingml/2006/main" w="12700">
            <a:solidFill>
              <a:srgbClr val="0FB69E">
                <a:alpha val="0"/>
              </a:srgbClr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B0A1160A-7958-489D-939D-8C1AFABC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3863340"/>
            <a:ext cx="118872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  <a:endParaRPr sz="100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A2ABC372-21A1-4C7E-8637-779C98F9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264" y="3758184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22F40"/>
                </a:solidFill>
                <a:latin typeface="Inter"/>
                <a:ea typeface="Inter"/>
                <a:cs typeface="Inter"/>
              </a:rPr>
              <a:t>Nalewanie</a:t>
            </a:r>
            <a:endParaRPr sz="125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97585565-59EA-40A8-8FD7-0F45431B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264" y="4041648"/>
            <a:ext cx="219456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>
                <a:solidFill>
                  <a:srgbClr val="5A7380"/>
                </a:solidFill>
                <a:latin typeface="Inter"/>
                <a:ea typeface="Inter"/>
                <a:cs typeface="Inter"/>
              </a:rPr>
              <a:t>Sterownik uruchamia pompkę.</a:t>
            </a:r>
            <a:endParaRPr sz="104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7E378688-BE02-4464-B0B8-279FE0A0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4590288"/>
            <a:ext cx="301752" cy="3017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B69E"/>
          </a:solidFill>
          <a:ln xmlns:a="http://schemas.openxmlformats.org/drawingml/2006/main" w="12700">
            <a:solidFill>
              <a:srgbClr val="0FB69E">
                <a:alpha val="0"/>
              </a:srgbClr>
            </a:solidFill>
            <a:prstDash val="solid"/>
          </a:ln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CF0784A7-5EE0-47B4-9D5F-8390ACA1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4658868"/>
            <a:ext cx="118872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  <a:endParaRPr sz="100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15063DFB-5D45-49B1-81C2-BA237FA5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264" y="4553712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22F40"/>
                </a:solidFill>
                <a:latin typeface="Inter"/>
                <a:ea typeface="Inter"/>
                <a:cs typeface="Inter"/>
              </a:rPr>
              <a:t>Automatyczny stop</a:t>
            </a:r>
            <a:endParaRPr sz="125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C1BCFA19-3B0E-4DB8-9849-713DBCEC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264" y="4837176"/>
            <a:ext cx="219456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>
                <a:solidFill>
                  <a:srgbClr val="5A7380"/>
                </a:solidFill>
                <a:latin typeface="Inter"/>
                <a:ea typeface="Inter"/>
                <a:cs typeface="Inter"/>
              </a:rPr>
              <a:t>Pompa kończy po zadanym czasie.</a:t>
            </a:r>
            <a:endParaRPr sz="104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21B81B18-FDEC-4EC7-844D-2D3803F2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5943600"/>
            <a:ext cx="10927080" cy="310896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E1F7F3"/>
          </a:solidFill>
          <a:ln xmlns:a="http://schemas.openxmlformats.org/drawingml/2006/main" w="1143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D3A0AD42-32BE-42E2-807A-76CE21EE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07608"/>
            <a:ext cx="1050645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 b="1">
                <a:solidFill>
                  <a:srgbClr val="147DAD"/>
                </a:solidFill>
                <a:latin typeface="Inter"/>
                <a:ea typeface="Inter"/>
                <a:cs typeface="Inter"/>
              </a:rPr>
              <a:t>Kolejny krok IoT: ESP32 + Wi-Fi → monitoring ilości nalanej wody, stanu zbiornika i działania urządzenia.</a:t>
            </a:r>
            <a:endParaRPr sz="1120"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D4C66A63-5498-4A73-B408-8E2B0FFA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6492240"/>
            <a:ext cx="109636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CE8EB"/>
            </a:solidFill>
            <a:prstDash val="solid"/>
          </a:ln>
        </p:spPr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E86D75AD-F233-430E-977D-8FB636CA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6556248"/>
            <a:ext cx="36576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30" b="1">
                <a:solidFill>
                  <a:srgbClr val="92A9B6"/>
                </a:solidFill>
                <a:latin typeface="Inter"/>
                <a:ea typeface="Inter"/>
                <a:cs typeface="Inter"/>
              </a:rPr>
              <a:t>HYDROBOT  ·  EiTI SMART WATER</a:t>
            </a:r>
            <a:endParaRPr sz="830"/>
          </a:p>
        </p:txBody>
      </p:sp>
    </p:spTree>
    <p:extLst>
      <p:ext uri="{BB962C8B-B14F-4D97-AF65-F5344CB8AC3E}">
        <p14:creationId xmlns:p14="http://schemas.microsoft.com/office/powerpoint/2010/main" val="18657938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D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1C9E48-B339-4CB5-BFF3-FE715E90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"/>
            <a:ext cx="9144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6BD9EB"/>
                </a:solidFill>
                <a:latin typeface="Inter"/>
                <a:ea typeface="Inter"/>
                <a:cs typeface="Inter"/>
              </a:rPr>
              <a:t>05  /  KIERUNEK ROZWOJU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138E667-178D-42AC-85D9-769F617E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632" y="283464"/>
            <a:ext cx="777240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2A9B6"/>
                </a:solidFill>
                <a:latin typeface="Inter"/>
                <a:ea typeface="Inter"/>
                <a:cs typeface="Inter"/>
              </a:rPr>
              <a:t>06 / 06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A9661E5-AB10-4473-8328-C15374CE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86868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Dziś nalewa. Jutro podjeżdża.</a:t>
            </a:r>
            <a:endParaRPr sz="32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8125E97-516C-4BC9-8433-4450D477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645920"/>
            <a:ext cx="106984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B7D3DC"/>
                </a:solidFill>
                <a:latin typeface="Inter"/>
                <a:ea typeface="Inter"/>
                <a:cs typeface="Inter"/>
              </a:rPr>
              <a:t>Docelowo HydroBot ma sam dostarczać wodę do studentów na wydziale.</a:t>
            </a:r>
            <a:endParaRPr sz="16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FE2BFD2-5932-417D-9832-AE67A9AF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319979"/>
            <a:ext cx="4169664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0C16">
              <a:alpha val="65000"/>
            </a:srgbClr>
          </a:solidFill>
          <a:ln xmlns:a="http://schemas.openxmlformats.org/drawingml/2006/main" w="12700">
            <a:solidFill>
              <a:srgbClr val="030C16">
                <a:alpha val="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816745A-30FE-4CC7-8B90-51BB1FE9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33" y="4354373"/>
            <a:ext cx="4005072" cy="757123"/>
          </a:xfrm>
          <a:prstGeom xmlns:a="http://schemas.openxmlformats.org/drawingml/2006/main" prst="roundRect">
            <a:avLst>
              <a:gd name="adj" fmla="val 15700"/>
            </a:avLst>
          </a:prstGeom>
          <a:solidFill xmlns:a="http://schemas.openxmlformats.org/drawingml/2006/main">
            <a:srgbClr val="1D4D63"/>
          </a:solidFill>
          <a:ln xmlns:a="http://schemas.openxmlformats.org/drawingml/2006/main" w="11430">
            <a:solidFill>
              <a:srgbClr val="26758C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2954942-DB2F-40EF-BB34-058367E9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826" y="5034686"/>
            <a:ext cx="987552" cy="2852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02E"/>
          </a:solidFill>
          <a:ln xmlns:a="http://schemas.openxmlformats.org/drawingml/2006/main" w="11430">
            <a:solidFill>
              <a:srgbClr val="09202E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8A7E608-AB99-4CD5-83D9-24923821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842" y="5034686"/>
            <a:ext cx="987552" cy="2852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02E"/>
          </a:solidFill>
          <a:ln xmlns:a="http://schemas.openxmlformats.org/drawingml/2006/main" w="11430">
            <a:solidFill>
              <a:srgbClr val="09202E">
                <a:alpha val="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3BCC475-244E-404B-8CF9-6200B2F1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962" y="4661611"/>
            <a:ext cx="877824" cy="8778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735"/>
          </a:solidFill>
          <a:ln xmlns:a="http://schemas.openxmlformats.org/drawingml/2006/main" w="12700">
            <a:solidFill>
              <a:srgbClr val="56AFC0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3CDC5B9-F2E9-4737-9DD5-55BD0C29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282" y="4935931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C9D1"/>
          </a:solidFill>
          <a:ln xmlns:a="http://schemas.openxmlformats.org/drawingml/2006/main" w="12700">
            <a:solidFill>
              <a:srgbClr val="59C9D1">
                <a:alpha val="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FE2630E-CF18-497C-8557-6DDE10D8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3515" y="4661611"/>
            <a:ext cx="877824" cy="8778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735"/>
          </a:solidFill>
          <a:ln xmlns:a="http://schemas.openxmlformats.org/drawingml/2006/main" w="12700">
            <a:solidFill>
              <a:srgbClr val="56AFC0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9C6C6B4-B562-4042-8729-799CFA4C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835" y="4935931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C9D1"/>
          </a:solidFill>
          <a:ln xmlns:a="http://schemas.openxmlformats.org/drawingml/2006/main" w="12700">
            <a:solidFill>
              <a:srgbClr val="59C9D1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E769B19-90BD-4816-BD1A-DE5863FA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010" y="2840126"/>
            <a:ext cx="2798064" cy="1711757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EEF7F8"/>
          </a:solidFill>
          <a:ln xmlns:a="http://schemas.openxmlformats.org/drawingml/2006/main" w="11430">
            <a:solidFill>
              <a:srgbClr val="C7ECED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7F711A7-A8A3-4764-8329-57DD6C00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976" y="3246120"/>
            <a:ext cx="1997050" cy="702259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B1D2C"/>
          </a:solidFill>
          <a:ln xmlns:a="http://schemas.openxmlformats.org/drawingml/2006/main" w="11430">
            <a:solidFill>
              <a:srgbClr val="0B1D2C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18FCD45-72B0-4DA8-836D-8D64F3E2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670" y="3520440"/>
            <a:ext cx="142646" cy="1426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D9EB"/>
          </a:solidFill>
          <a:ln xmlns:a="http://schemas.openxmlformats.org/drawingml/2006/main" w="12700">
            <a:solidFill>
              <a:srgbClr val="6BD9EB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0130E70-459F-4F35-8D6B-242FDE7F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630" y="3520440"/>
            <a:ext cx="142646" cy="1426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D9EB"/>
          </a:solidFill>
          <a:ln xmlns:a="http://schemas.openxmlformats.org/drawingml/2006/main" w="12700">
            <a:solidFill>
              <a:srgbClr val="6BD9EB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572DD5D-8769-4228-8EA7-38D5516B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371" y="3761842"/>
            <a:ext cx="6144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210">
            <a:solidFill>
              <a:srgbClr val="6BD9EB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3ABC359-F84C-49C4-BDC6-07C14818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976" y="2324405"/>
            <a:ext cx="1953158" cy="680314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D4F6F8"/>
          </a:solidFill>
          <a:ln xmlns:a="http://schemas.openxmlformats.org/drawingml/2006/main" w="11430">
            <a:solidFill>
              <a:srgbClr val="8DE4EA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42D075B-0331-43E7-8F56-9F68FC46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758" y="2664562"/>
            <a:ext cx="1777594" cy="26334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74D8E8"/>
          </a:solidFill>
          <a:ln xmlns:a="http://schemas.openxmlformats.org/drawingml/2006/main" w="11430">
            <a:solidFill>
              <a:srgbClr val="74D8E8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7696D6C-5E32-49F9-B8B8-1B97E940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074" y="3432658"/>
            <a:ext cx="351130" cy="131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B5CAD1"/>
          </a:solidFill>
          <a:ln xmlns:a="http://schemas.openxmlformats.org/drawingml/2006/main" w="11430">
            <a:solidFill>
              <a:srgbClr val="B5CAD1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8568D49-D91A-4273-86A1-443A8600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498494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B5CAD1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A606594-87BE-4B6F-BD89-4D9545F7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760366" y="3948379"/>
            <a:ext cx="175565" cy="175565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0FB69E"/>
          </a:solidFill>
          <a:ln xmlns:a="http://schemas.openxmlformats.org/drawingml/2006/main" w="12700">
            <a:solidFill>
              <a:srgbClr val="0FB69E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3DEB19C-79CA-4BED-9BFC-815B1930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424" y="2304288"/>
            <a:ext cx="5751576" cy="768096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384A"/>
          </a:solidFill>
          <a:ln xmlns:a="http://schemas.openxmlformats.org/drawingml/2006/main" w="11430">
            <a:solidFill>
              <a:srgbClr val="224B5C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61C8AB9-1A55-488B-A242-F152F2F0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253288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D9EB"/>
          </a:solidFill>
          <a:ln xmlns:a="http://schemas.openxmlformats.org/drawingml/2006/main" w="12700">
            <a:solidFill>
              <a:srgbClr val="6BD9EB">
                <a:alpha val="0"/>
              </a:srgbClr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FDF375E-6CA7-4C1E-9711-BB9032A5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414016"/>
            <a:ext cx="4828032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MOBILNOŚĆ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4F971B5-8819-452F-946D-0F30C3D9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670048"/>
            <a:ext cx="480974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70">
                <a:solidFill>
                  <a:srgbClr val="BBD7DF"/>
                </a:solidFill>
                <a:latin typeface="Inter"/>
                <a:ea typeface="Inter"/>
                <a:cs typeface="Inter"/>
              </a:rPr>
              <a:t>Elektryczny napęd i autonomiczny przejazd.</a:t>
            </a:r>
            <a:endParaRPr sz="117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9587846-0218-4068-83A4-E6B3FD91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424" y="3227832"/>
            <a:ext cx="5751576" cy="768096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384A"/>
          </a:solidFill>
          <a:ln xmlns:a="http://schemas.openxmlformats.org/drawingml/2006/main" w="11430">
            <a:solidFill>
              <a:srgbClr val="224B5C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F6C5A665-84F6-4E3E-B806-CA69D206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34564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35F"/>
          </a:solidFill>
          <a:ln xmlns:a="http://schemas.openxmlformats.org/drawingml/2006/main" w="12700">
            <a:solidFill>
              <a:srgbClr val="F4B35F">
                <a:alpha val="0"/>
              </a:srgbClr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457E2C3-1B76-4FF5-B066-B94FBC7A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337560"/>
            <a:ext cx="4828032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AI + INTERAKCJA</a:t>
            </a:r>
            <a:endParaRPr sz="12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EE781E96-01D6-41D5-841B-81514F33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593592"/>
            <a:ext cx="480974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70">
                <a:solidFill>
                  <a:srgbClr val="BBD7DF"/>
                </a:solidFill>
                <a:latin typeface="Inter"/>
                <a:ea typeface="Inter"/>
                <a:cs typeface="Inter"/>
              </a:rPr>
              <a:t>Wykrywanie zainteresowania i komunikacja.</a:t>
            </a:r>
            <a:endParaRPr sz="117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92B39ED6-913C-4456-80FA-7E5385B5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424" y="4151376"/>
            <a:ext cx="5751576" cy="768096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384A"/>
          </a:solidFill>
          <a:ln xmlns:a="http://schemas.openxmlformats.org/drawingml/2006/main" w="11430">
            <a:solidFill>
              <a:srgbClr val="224B5C"/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48E942E6-E95B-4C7F-8422-3B10D419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4379976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B69E"/>
          </a:solidFill>
          <a:ln xmlns:a="http://schemas.openxmlformats.org/drawingml/2006/main" w="12700">
            <a:solidFill>
              <a:srgbClr val="0FB69E">
                <a:alpha val="0"/>
              </a:srgbClr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460335C5-CEA0-4F36-91BC-16C33F10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4261104"/>
            <a:ext cx="4828032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IoT</a:t>
            </a:r>
            <a:endParaRPr sz="125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80CCE7FA-90C4-4AAA-A300-F9D32C57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4517136"/>
            <a:ext cx="480974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70">
                <a:solidFill>
                  <a:srgbClr val="BBD7DF"/>
                </a:solidFill>
                <a:latin typeface="Inter"/>
                <a:ea typeface="Inter"/>
                <a:cs typeface="Inter"/>
              </a:rPr>
              <a:t>Poziom wody, bateria, statystyki i alerty.</a:t>
            </a:r>
            <a:endParaRPr sz="117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EA82D473-559A-4B50-87B5-3B4D6E63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424" y="5074920"/>
            <a:ext cx="5751576" cy="768096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384A"/>
          </a:solidFill>
          <a:ln xmlns:a="http://schemas.openxmlformats.org/drawingml/2006/main" w="11430">
            <a:solidFill>
              <a:srgbClr val="224B5C"/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2ED73DAB-E302-4D08-ACA2-E8BA9B17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530352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E8BE"/>
          </a:solidFill>
          <a:ln xmlns:a="http://schemas.openxmlformats.org/drawingml/2006/main" w="12700">
            <a:solidFill>
              <a:srgbClr val="B5E8BE">
                <a:alpha val="0"/>
              </a:srgbClr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42785E61-1DE2-4402-8570-7D491A4E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5184648"/>
            <a:ext cx="4828032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EKOLOGIA</a:t>
            </a:r>
            <a:endParaRPr sz="125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07A52021-B38C-439D-ABC6-1F845137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5440680"/>
            <a:ext cx="480974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70">
                <a:solidFill>
                  <a:srgbClr val="BBD7DF"/>
                </a:solidFill>
                <a:latin typeface="Inter"/>
                <a:ea typeface="Inter"/>
                <a:cs typeface="Inter"/>
              </a:rPr>
              <a:t>Napełnianie butelek wielorazowych.</a:t>
            </a:r>
            <a:endParaRPr sz="117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8971C8EF-279C-4D11-9FD6-452ADD3F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998464"/>
            <a:ext cx="3291840" cy="283464"/>
          </a:xfrm>
          <a:prstGeom xmlns:a="http://schemas.openxmlformats.org/drawingml/2006/main" prst="roundRect">
            <a:avLst>
              <a:gd name="adj" fmla="val 48387"/>
            </a:avLst>
          </a:prstGeom>
          <a:solidFill xmlns:a="http://schemas.openxmlformats.org/drawingml/2006/main">
            <a:srgbClr val="174759"/>
          </a:solidFill>
          <a:ln xmlns:a="http://schemas.openxmlformats.org/drawingml/2006/main" w="11430">
            <a:solidFill>
              <a:srgbClr val="174759">
                <a:alpha val="0"/>
              </a:srgbClr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BE340ADA-12AA-46DF-88A7-5F4BEA29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6021324"/>
            <a:ext cx="3108960" cy="2240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6BD9EB"/>
                </a:solidFill>
                <a:latin typeface="Inter"/>
                <a:ea typeface="Inter"/>
                <a:cs typeface="Inter"/>
              </a:rPr>
              <a:t>WERSJA DOCELOWA  ·  KONCEPCJA</a:t>
            </a:r>
            <a:endParaRPr sz="100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538B8BE2-B4A8-44DB-A3CE-D44B5901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5961888"/>
            <a:ext cx="709574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Nie szukaj wody. Pozwól, żeby woda znalazła Ciebie.</a:t>
            </a:r>
            <a:endParaRPr sz="130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78991667-8115-4D2B-AC0E-5CE511C7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6492240"/>
            <a:ext cx="109636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294657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AF449F2D-8BF9-45C5-A1F3-6CD05DF0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6556248"/>
            <a:ext cx="36576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30" b="1">
                <a:solidFill>
                  <a:srgbClr val="829BAA"/>
                </a:solidFill>
                <a:latin typeface="Inter"/>
                <a:ea typeface="Inter"/>
                <a:cs typeface="Inter"/>
              </a:rPr>
              <a:t>HYDROBOT  ·  EiTI SMART WATER</a:t>
            </a:r>
            <a:endParaRPr sz="830"/>
          </a:p>
        </p:txBody>
      </p:sp>
    </p:spTree>
    <p:extLst>
      <p:ext uri="{BB962C8B-B14F-4D97-AF65-F5344CB8AC3E}">
        <p14:creationId xmlns:p14="http://schemas.microsoft.com/office/powerpoint/2010/main" val="23193650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2026-10-29T07:26:03.8220000Z</dcterms:created>
  <dcterms:modified xsi:type="dcterms:W3CDTF">2026-10-29T07:26:03.8220000Z</dcterms:modified>
</coreProperties>
</file>